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Intro: Begrüßung der Jury. Kompetent ist der Prototyp für Österreichs universellen KI-Bürgerassistenten für 2030. Er löst das Problem von 10+ fragmentierten Portalen und unverständlicher Behördensprache durch empathische, rechtssichere Dialoge.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Problem: Bürger wollen keine Paragraphen wälzen. Sie wollen wissen: Wohin muss ich? Bis wann? Was muss ich mitbringen? Standard-KIs halluzinieren, Portale sind unübersichtlich.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Vision 2030: Ein einheitlicher digitaler Begleiter über alle Lebenslagen hinweg, der Bürger befähigt und Beamte entlastet.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Personas: Wir decken alle Bevölkerungsschichten ab – von der Pensionistin mit Sehschwäche über internationale Spitzenkräfte bis zur Familie mit komplexen Mehrfachanliegen.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1 stellt sicher, dass kein Bürger falsch verstanden wird. Phase 2 garantiert verlässliche Antworten nach dem österreichischen CI-Muster. PII-Filter schützt persönliche Sozialversicherungsdaten.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 ist ein universeller Assistent. Der Form Resolver löst ein gigantisches Problem von Verwaltungen: tote PDF-Links. Bürger bekommen direkt das funktionierende Originalformular.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Echte Barrierefreiheit schließt niemanden aus. Insbesondere Leichte Sprache und das vollwertige RTL-Layout für Arabisch heben das Projekt auf ein neues Niveau.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KI ersetzt den Menschen nicht, sie bereitet alles vor. Das Mitarbeiterportal ermöglicht nahtlose Schalterübernahme mit vollständiger Fallübersicht.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Technisch solide: 152 bestandene automatisierte Tests, modernstes Laravel 12 und ein resilientes Multi-Model-Fallback-System garantieren Ausfallsicherheit.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Nutzen ist messbar: Schalterentlastung, drastisch verkürzte Bearbeitungszeiten und maximale Rechtssicherheit durch 100% verifizierte Quellen.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Abschluss und Einladung zum Live-Test. Fragen der Jury beantworten.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1320F"/>
          </a:solidFill>
          <a:ln>
            <a:solidFill>
              <a:srgbClr val="E132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B92B06"/>
                </a:solidFill>
                <a:latin typeface="Arial"/>
              </a:defRPr>
            </a:pPr>
            <a:r>
              <a:t>DIGITALE ASSISTENTEN: EVOLUTION BIS 2030 (ÖFFENTLICHER SEKTOR)</a:t>
            </a:r>
          </a:p>
          <a:p>
            <a:pPr>
              <a:spcAft>
                <a:spcPts val="1400"/>
              </a:spcAft>
              <a:defRPr sz="3600" b="1">
                <a:solidFill>
                  <a:srgbClr val="002D66"/>
                </a:solidFill>
                <a:latin typeface="Arial"/>
              </a:defRPr>
            </a:pPr>
            <a:r>
              <a:t>Kompetent · Digitaler Bürgerassistent 2030</a:t>
            </a:r>
          </a:p>
          <a:p>
            <a:pPr>
              <a:spcAft>
                <a:spcPts val="2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Vom bürokratischen Labyrinth zur empathischen, rechtssicheren Bürgerbegleitung.</a:t>
            </a:r>
            <a:br/>
            <a:r>
              <a:t>Der barrierefreie, universelle KI-Bürgerassistent der Republik Österreich.</a:t>
            </a:r>
          </a:p>
          <a:p>
            <a:pPr>
              <a:defRPr sz="1300" b="1">
                <a:solidFill>
                  <a:srgbClr val="15803D"/>
                </a:solidFill>
                <a:latin typeface="Arial"/>
              </a:defRPr>
            </a:pPr>
            <a:r>
              <a:t>✓ Live-Prototyp: competent.shiv.ovh   |   152 Tests (100% grün)   |   WCAG 2.2 AA konform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01168"/>
            <a:ext cx="320040" cy="109728"/>
          </a:xfrm>
          <a:prstGeom prst="rect">
            <a:avLst/>
          </a:prstGeom>
          <a:solidFill>
            <a:srgbClr val="E1320F"/>
          </a:solidFill>
          <a:ln>
            <a:solidFill>
              <a:srgbClr val="E132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310896"/>
            <a:ext cx="320040" cy="10972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420624"/>
            <a:ext cx="320040" cy="109728"/>
          </a:xfrm>
          <a:prstGeom prst="rect">
            <a:avLst/>
          </a:prstGeom>
          <a:solidFill>
            <a:srgbClr val="E1320F"/>
          </a:solidFill>
          <a:ln>
            <a:solidFill>
              <a:srgbClr val="E132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46304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D66"/>
                </a:solidFill>
                <a:latin typeface="Arial"/>
              </a:defRPr>
            </a:pPr>
            <a:r>
              <a:t>Kompetent</a:t>
            </a:r>
            <a:r>
              <a:rPr sz="1400" b="0">
                <a:solidFill>
                  <a:srgbClr val="64748B"/>
                </a:solidFill>
              </a:rPr>
              <a:t>  ·  Digitaler Bürgerassistent 2030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4592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DIGITALE ASSISTENTEN: EVOLUTION BIS 2030 (ÖFFENTLICHER SEKTOR)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601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2D66"/>
                </a:solidFill>
                <a:latin typeface="Arial"/>
              </a:defRPr>
            </a:pPr>
            <a:r>
              <a:t>Die Bürgerschnittstelle im Jahr 2026: Die 4 Hürden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Live Prototype: competent.shiv.ovh   |   Caseworker Portal: competent.shiv.ovh/portal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28800"/>
            <a:ext cx="5303520" cy="2011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96596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B92B06"/>
                </a:solidFill>
                <a:latin typeface="Arial"/>
              </a:defRPr>
            </a:pPr>
            <a:r>
              <a:t>HÜRDE 1 · FRAGMENTIERUNG</a:t>
            </a:r>
          </a:p>
          <a:p>
            <a:pPr>
              <a:spcAft>
                <a:spcPts val="600"/>
              </a:spcAft>
              <a:defRPr sz="1400" b="1">
                <a:solidFill>
                  <a:srgbClr val="002D66"/>
                </a:solidFill>
                <a:latin typeface="Arial"/>
              </a:defRPr>
            </a:pPr>
            <a:r>
              <a:t>10+ getrennte Amtsportale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Bürger müssen selbst recherchieren, ob ihr Anliegen auf oesterreich.gv.at, bmi.gv.at, migration.gv.at oder bmf.gv.at liegt.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828800"/>
            <a:ext cx="5303520" cy="2011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96596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B92B06"/>
                </a:solidFill>
                <a:latin typeface="Arial"/>
              </a:defRPr>
            </a:pPr>
            <a:r>
              <a:t>HÜRDE 2 · BEHÖRDENSPRACHE</a:t>
            </a:r>
          </a:p>
          <a:p>
            <a:pPr>
              <a:spcAft>
                <a:spcPts val="600"/>
              </a:spcAft>
              <a:defRPr sz="1400" b="1">
                <a:solidFill>
                  <a:srgbClr val="002D66"/>
                </a:solidFill>
                <a:latin typeface="Arial"/>
              </a:defRPr>
            </a:pPr>
            <a:r>
              <a:t>Komplexe Gesetzesbegriffe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Begriffe wie 'Unterkunftgeberbestätigung', 'NAG' oder 'Arbeitnehmerveranlagung' überfordern Bürger, Senioren und Zugewanderte.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14800"/>
            <a:ext cx="5303520" cy="2011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25196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B92B06"/>
                </a:solidFill>
                <a:latin typeface="Arial"/>
              </a:defRPr>
            </a:pPr>
            <a:r>
              <a:t>HÜRDE 3 · HALLUZINATIONSRISIKO</a:t>
            </a:r>
          </a:p>
          <a:p>
            <a:pPr>
              <a:spcAft>
                <a:spcPts val="600"/>
              </a:spcAft>
              <a:defRPr sz="1400" b="1">
                <a:solidFill>
                  <a:srgbClr val="002D66"/>
                </a:solidFill>
                <a:latin typeface="Arial"/>
              </a:defRPr>
            </a:pPr>
            <a:r>
              <a:t>Fehlende Verlässlichkeit generischer KIs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Standard-LLMs erfinden Fristen, Dokumente und Gebühren. Im Amtsverkehr ist dies haftungsrechtlich inakzeptabel.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114800"/>
            <a:ext cx="5303520" cy="2011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25196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B92B06"/>
                </a:solidFill>
                <a:latin typeface="Arial"/>
              </a:defRPr>
            </a:pPr>
            <a:r>
              <a:t>HÜRDE 4 · ÜBERLASTUNG</a:t>
            </a:r>
          </a:p>
          <a:p>
            <a:pPr>
              <a:spcAft>
                <a:spcPts val="600"/>
              </a:spcAft>
              <a:defRPr sz="1400" b="1">
                <a:solidFill>
                  <a:srgbClr val="002D66"/>
                </a:solidFill>
                <a:latin typeface="Arial"/>
              </a:defRPr>
            </a:pPr>
            <a:r>
              <a:t>70% Standardauskünfte am Schalter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Mitarbeiter in Ämtern und Bürgerservicestellen verbringen Stunden mit denselben Routineanfragen.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01168"/>
            <a:ext cx="320040" cy="109728"/>
          </a:xfrm>
          <a:prstGeom prst="rect">
            <a:avLst/>
          </a:prstGeom>
          <a:solidFill>
            <a:srgbClr val="E1320F"/>
          </a:solidFill>
          <a:ln>
            <a:solidFill>
              <a:srgbClr val="E132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310896"/>
            <a:ext cx="320040" cy="10972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420624"/>
            <a:ext cx="320040" cy="109728"/>
          </a:xfrm>
          <a:prstGeom prst="rect">
            <a:avLst/>
          </a:prstGeom>
          <a:solidFill>
            <a:srgbClr val="E1320F"/>
          </a:solidFill>
          <a:ln>
            <a:solidFill>
              <a:srgbClr val="E132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46304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D66"/>
                </a:solidFill>
                <a:latin typeface="Arial"/>
              </a:defRPr>
            </a:pPr>
            <a:r>
              <a:t>Kompetent</a:t>
            </a:r>
            <a:r>
              <a:rPr sz="1400" b="0">
                <a:solidFill>
                  <a:srgbClr val="64748B"/>
                </a:solidFill>
              </a:rPr>
              <a:t>  ·  Digitaler Bürgerassistent 2030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4592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DIGITALE ASSISTENTEN: EVOLUTION BIS 2030 (ÖFFENTLICHER SEKTOR)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601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2D66"/>
                </a:solidFill>
                <a:latin typeface="Arial"/>
              </a:defRPr>
            </a:pPr>
            <a:r>
              <a:t>Vision 2030: Ein einziger, verlässlicher Bürgerdialog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Live Prototype: competent.shiv.ovh   |   Caseworker Portal: competent.shiv.ovh/portal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11680"/>
            <a:ext cx="3474720" cy="3840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2D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148840"/>
            <a:ext cx="31089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B92B06"/>
                </a:solidFill>
                <a:latin typeface="Arial"/>
              </a:defRPr>
            </a:pPr>
            <a:r>
              <a:t>PFEILER 1</a:t>
            </a:r>
          </a:p>
          <a:p>
            <a:pPr>
              <a:spcAft>
                <a:spcPts val="600"/>
              </a:spcAft>
              <a:defRPr sz="1400" b="1">
                <a:solidFill>
                  <a:srgbClr val="002D66"/>
                </a:solidFill>
                <a:latin typeface="Arial"/>
              </a:defRPr>
            </a:pPr>
            <a:r>
              <a:t>Empathisch &amp; Alltagstauglich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Versteht unstrukturierte, umgangssprachliche Sprache. Filtert automatisch PII (SVNr) und formuliert in aktiver, verständlicher Bürgersprache.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011680"/>
            <a:ext cx="3474720" cy="3840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2D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2148840"/>
            <a:ext cx="31089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B92B06"/>
                </a:solidFill>
                <a:latin typeface="Arial"/>
              </a:defRPr>
            </a:pPr>
            <a:r>
              <a:t>PFEILER 2</a:t>
            </a:r>
          </a:p>
          <a:p>
            <a:pPr>
              <a:spcAft>
                <a:spcPts val="600"/>
              </a:spcAft>
              <a:defRPr sz="1400" b="1">
                <a:solidFill>
                  <a:srgbClr val="002D66"/>
                </a:solidFill>
                <a:latin typeface="Arial"/>
              </a:defRPr>
            </a:pPr>
            <a:r>
              <a:t>100% Gesetzlich Verankert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Null Halluzination: Jede Frist, jede Gebühr und jedes Formular basiert auf autorisierten Gesetzesdaten (PassG, MeldeG, NAG, EStG) mit Quellenbelegen.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011680"/>
            <a:ext cx="3474720" cy="3840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2D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148840"/>
            <a:ext cx="31089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B92B06"/>
                </a:solidFill>
                <a:latin typeface="Arial"/>
              </a:defRPr>
            </a:pPr>
            <a:r>
              <a:t>PFEILER 3</a:t>
            </a:r>
          </a:p>
          <a:p>
            <a:pPr>
              <a:spcAft>
                <a:spcPts val="600"/>
              </a:spcAft>
              <a:defRPr sz="1400" b="1">
                <a:solidFill>
                  <a:srgbClr val="002D66"/>
                </a:solidFill>
                <a:latin typeface="Arial"/>
              </a:defRPr>
            </a:pPr>
            <a:r>
              <a:t>Civic Handover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Keine KI-Sackgasse: Das System fasst den Fall in einem amtlichen Sachbearbeiter-Dossier zusammen und übergibt nahtlos an den Menschen.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01168"/>
            <a:ext cx="320040" cy="109728"/>
          </a:xfrm>
          <a:prstGeom prst="rect">
            <a:avLst/>
          </a:prstGeom>
          <a:solidFill>
            <a:srgbClr val="E1320F"/>
          </a:solidFill>
          <a:ln>
            <a:solidFill>
              <a:srgbClr val="E132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310896"/>
            <a:ext cx="320040" cy="10972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420624"/>
            <a:ext cx="320040" cy="109728"/>
          </a:xfrm>
          <a:prstGeom prst="rect">
            <a:avLst/>
          </a:prstGeom>
          <a:solidFill>
            <a:srgbClr val="E1320F"/>
          </a:solidFill>
          <a:ln>
            <a:solidFill>
              <a:srgbClr val="E132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46304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D66"/>
                </a:solidFill>
                <a:latin typeface="Arial"/>
              </a:defRPr>
            </a:pPr>
            <a:r>
              <a:t>Kompetent</a:t>
            </a:r>
            <a:r>
              <a:rPr sz="1400" b="0">
                <a:solidFill>
                  <a:srgbClr val="64748B"/>
                </a:solidFill>
              </a:rPr>
              <a:t>  ·  Digitaler Bürgerassistent 2030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4592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DIGITALE ASSISTENTEN: EVOLUTION BIS 2030 (ÖFFENTLICHER SEKTOR)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601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2D66"/>
                </a:solidFill>
                <a:latin typeface="Arial"/>
              </a:defRPr>
            </a:pPr>
            <a:r>
              <a:t>Bürger-Personas: Für jede Bevölkerungsgruppe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Live Prototype: competent.shiv.ovh   |   Caseworker Portal: competent.shiv.ovh/portal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11680"/>
            <a:ext cx="3474720" cy="38404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148840"/>
            <a:ext cx="31089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B92B06"/>
                </a:solidFill>
                <a:latin typeface="Arial"/>
              </a:defRPr>
            </a:pPr>
            <a:r>
              <a:t>PERSONA 1 · SENIORIN</a:t>
            </a:r>
          </a:p>
          <a:p>
            <a:pPr>
              <a:spcAft>
                <a:spcPts val="600"/>
              </a:spcAft>
              <a:defRPr sz="1400" b="1">
                <a:solidFill>
                  <a:srgbClr val="002D66"/>
                </a:solidFill>
                <a:latin typeface="Arial"/>
              </a:defRPr>
            </a:pPr>
            <a:r>
              <a:t>Erika (68, Linz)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Bedarf: Reisepass vor Reise abgelaufen, Sehschwäche, Sorge vor Fristen.</a:t>
            </a:r>
            <a:br/>
            <a:br/>
            <a:r>
              <a:t>Lösung: Nutzt High-Contrast &amp; 200% Schrift-Zoom. Erhält sofortige Gebührenberechnung (€75,90 vs €100 Express) und druckbare Checkliste.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011680"/>
            <a:ext cx="3474720" cy="38404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2148840"/>
            <a:ext cx="31089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B92B06"/>
                </a:solidFill>
                <a:latin typeface="Arial"/>
              </a:defRPr>
            </a:pPr>
            <a:r>
              <a:t>PERSONA 2 · FACHKRAFT</a:t>
            </a:r>
          </a:p>
          <a:p>
            <a:pPr>
              <a:spcAft>
                <a:spcPts val="600"/>
              </a:spcAft>
              <a:defRPr sz="1400" b="1">
                <a:solidFill>
                  <a:srgbClr val="002D66"/>
                </a:solidFill>
                <a:latin typeface="Arial"/>
              </a:defRPr>
            </a:pPr>
            <a:r>
              <a:t>Tariq (29, Wien)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Bedarf: Software-Ingenieur aus Kairo. Sucht Infos zur Rot-Weiß-Rot – Karte und Arbeitgebererklärung.</a:t>
            </a:r>
            <a:br/>
            <a:br/>
            <a:r>
              <a:t>Lösung: Spricht Englisch; System übersetzt Amtsbegriffe, belässt deutsche Originalbegriffe in Klammern und bietet direkten PDF-Download.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011680"/>
            <a:ext cx="3474720" cy="38404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148840"/>
            <a:ext cx="31089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B92B06"/>
                </a:solidFill>
                <a:latin typeface="Arial"/>
              </a:defRPr>
            </a:pPr>
            <a:r>
              <a:t>PERSONA 3 · FAMILIE</a:t>
            </a:r>
          </a:p>
          <a:p>
            <a:pPr>
              <a:spcAft>
                <a:spcPts val="600"/>
              </a:spcAft>
              <a:defRPr sz="1400" b="1">
                <a:solidFill>
                  <a:srgbClr val="002D66"/>
                </a:solidFill>
                <a:latin typeface="Arial"/>
              </a:defRPr>
            </a:pPr>
            <a:r>
              <a:t>Elena (34, Graz)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Bedarf: Umzug mit Kindern, mehrere Anliegen (Wohnsitz, Meldezettel, Familienbeihilfe).</a:t>
            </a:r>
            <a:br/>
            <a:br/>
            <a:r>
              <a:t>Lösung: Multi-Domain-Erkennung warnt vor der 3-Tage-Meldefrist (§ 1 MeldeG) und leitet direkt zu ID Austria &amp; BMF-Formular weiter.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01168"/>
            <a:ext cx="320040" cy="109728"/>
          </a:xfrm>
          <a:prstGeom prst="rect">
            <a:avLst/>
          </a:prstGeom>
          <a:solidFill>
            <a:srgbClr val="E1320F"/>
          </a:solidFill>
          <a:ln>
            <a:solidFill>
              <a:srgbClr val="E132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310896"/>
            <a:ext cx="320040" cy="10972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420624"/>
            <a:ext cx="320040" cy="109728"/>
          </a:xfrm>
          <a:prstGeom prst="rect">
            <a:avLst/>
          </a:prstGeom>
          <a:solidFill>
            <a:srgbClr val="E1320F"/>
          </a:solidFill>
          <a:ln>
            <a:solidFill>
              <a:srgbClr val="E132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46304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D66"/>
                </a:solidFill>
                <a:latin typeface="Arial"/>
              </a:defRPr>
            </a:pPr>
            <a:r>
              <a:t>Kompetent</a:t>
            </a:r>
            <a:r>
              <a:rPr sz="1400" b="0">
                <a:solidFill>
                  <a:srgbClr val="64748B"/>
                </a:solidFill>
              </a:rPr>
              <a:t>  ·  Digitaler Bürgerassistent 2030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4592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DIGITALE ASSISTENTEN: EVOLUTION BIS 2030 (ÖFFENTLICHER SEKTOR)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601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2D66"/>
                </a:solidFill>
                <a:latin typeface="Arial"/>
              </a:defRPr>
            </a:pPr>
            <a:r>
              <a:t>Innovation 1: Der Zwei-Phasen CI-Antwortablauf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Live Prototype: competent.shiv.ovh   |   Caseworker Portal: competent.shiv.ovh/portal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28800"/>
            <a:ext cx="5303520" cy="19202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96596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B92B06"/>
                </a:solidFill>
                <a:latin typeface="Arial"/>
              </a:defRPr>
            </a:pPr>
            <a:r>
              <a:t>PHASE 1: RÜCKFRAGE [CLARIFY]</a:t>
            </a:r>
          </a:p>
          <a:p>
            <a:pPr>
              <a:spcAft>
                <a:spcPts val="600"/>
              </a:spcAft>
              <a:defRPr sz="1400" b="1">
                <a:solidFill>
                  <a:srgbClr val="002D66"/>
                </a:solidFill>
                <a:latin typeface="Arial"/>
              </a:defRPr>
            </a:pPr>
            <a:r>
              <a:t>Verständnisabsicherung vor Ausführung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Die KI rät nicht bei unklaren Eingaben. Sie fragt nach: 'Habe ich Ihr Anliegen richtig verstanden?' mit interaktiven Chips 'Ja, genau' und 'Nicht ganz'.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23360"/>
            <a:ext cx="5303520" cy="19202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16052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B92B06"/>
                </a:solidFill>
                <a:latin typeface="Arial"/>
              </a:defRPr>
            </a:pPr>
            <a:r>
              <a:t>PHASE 2: STRUKTUR [ANSWER]</a:t>
            </a:r>
          </a:p>
          <a:p>
            <a:pPr>
              <a:spcAft>
                <a:spcPts val="600"/>
              </a:spcAft>
              <a:defRPr sz="1400" b="1">
                <a:solidFill>
                  <a:srgbClr val="002D66"/>
                </a:solidFill>
                <a:latin typeface="Arial"/>
              </a:defRPr>
            </a:pPr>
            <a:r>
              <a:t>Wo · Frist · Dokumente · Quellen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Strikte Gliederung nach Wo, Frist und Unterlagen. Jede Aussage trägt eine nummerierte Quelle [1] mit Direktlink zur Behörde.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828800"/>
            <a:ext cx="5303520" cy="4114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2D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96596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B92B06"/>
                </a:solidFill>
                <a:latin typeface="Arial"/>
              </a:defRPr>
            </a:pPr>
            <a:r>
              <a:t>DATENSCHUTZ-FIREWALL</a:t>
            </a:r>
          </a:p>
          <a:p>
            <a:pPr>
              <a:spcAft>
                <a:spcPts val="600"/>
              </a:spcAft>
              <a:defRPr sz="1400" b="1">
                <a:solidFill>
                  <a:srgbClr val="002D66"/>
                </a:solidFill>
                <a:latin typeface="Arial"/>
              </a:defRPr>
            </a:pPr>
            <a:r>
              <a:t>Automatische SVNr-Maskierung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Österreichische 10-stellige Sozialversicherungsnummern (SVNr) werden via Regex clientseitig erkannt und vor dem Senden an das Sprachmodell automatisch geschwärzt.</a:t>
            </a:r>
            <a:br/>
            <a:br/>
            <a:r>
              <a:t>Bürger erhalten einen sichtbaren Datenschutzhinweis. Höchste DSGVO- und Datensouveränitäts-Standards für die öffentliche Verwaltung.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01168"/>
            <a:ext cx="320040" cy="109728"/>
          </a:xfrm>
          <a:prstGeom prst="rect">
            <a:avLst/>
          </a:prstGeom>
          <a:solidFill>
            <a:srgbClr val="E1320F"/>
          </a:solidFill>
          <a:ln>
            <a:solidFill>
              <a:srgbClr val="E132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310896"/>
            <a:ext cx="320040" cy="10972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420624"/>
            <a:ext cx="320040" cy="109728"/>
          </a:xfrm>
          <a:prstGeom prst="rect">
            <a:avLst/>
          </a:prstGeom>
          <a:solidFill>
            <a:srgbClr val="E1320F"/>
          </a:solidFill>
          <a:ln>
            <a:solidFill>
              <a:srgbClr val="E132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46304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D66"/>
                </a:solidFill>
                <a:latin typeface="Arial"/>
              </a:defRPr>
            </a:pPr>
            <a:r>
              <a:t>Kompetent</a:t>
            </a:r>
            <a:r>
              <a:rPr sz="1400" b="0">
                <a:solidFill>
                  <a:srgbClr val="64748B"/>
                </a:solidFill>
              </a:rPr>
              <a:t>  ·  Digitaler Bürgerassistent 2030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4592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DIGITALE ASSISTENTEN: EVOLUTION BIS 2030 (ÖFFENTLICHER SEKTOR)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601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2D66"/>
                </a:solidFill>
                <a:latin typeface="Arial"/>
              </a:defRPr>
            </a:pPr>
            <a:r>
              <a:t>Innovation 2: Universalität &amp; Der Dynamic Form Resolver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Live Prototype: competent.shiv.ovh   |   Caseworker Portal: competent.shiv.ovh/portal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28800"/>
            <a:ext cx="5303520" cy="4114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2D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96596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B92B06"/>
                </a:solidFill>
                <a:latin typeface="Arial"/>
              </a:defRPr>
            </a:pPr>
            <a:r>
              <a:t>DAS FORMULAR-PROBLEM GELÖST</a:t>
            </a:r>
          </a:p>
          <a:p>
            <a:pPr>
              <a:spcAft>
                <a:spcPts val="600"/>
              </a:spcAft>
              <a:defRPr sz="1400" b="1">
                <a:solidFill>
                  <a:srgbClr val="002D66"/>
                </a:solidFill>
                <a:latin typeface="Arial"/>
              </a:defRPr>
            </a:pPr>
            <a:r>
              <a:t>Schluss mit toten PDF-Links (Link-Rot)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Behörden-Websites ändern regelmäßig PDF-Dateinamen und Pfade.</a:t>
            </a:r>
            <a:br/>
            <a:br/>
            <a:r>
              <a:t>Unser Hybrid Form Resolver:</a:t>
            </a:r>
            <a:br/>
            <a:r>
              <a:t>• Erkennt Formular-Absichten ('Wo finde ich den Antrag?')</a:t>
            </a:r>
            <a:br/>
            <a:r>
              <a:t>• Verknüpft automatisch die live geprüften amtlichen Formular-Downloads (z. B. BMI Formular B, AMS Arbeitgebererklärung, Meldezettel)</a:t>
            </a:r>
            <a:br/>
            <a:r>
              <a:t>• Schaltet bei Bedarf auf die übergeordneten Formularverzeichnisse um.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828800"/>
            <a:ext cx="5303520" cy="4114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96596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B92B06"/>
                </a:solidFill>
                <a:latin typeface="Arial"/>
              </a:defRPr>
            </a:pPr>
            <a:r>
              <a:t>UNIVERSELLE ABDECKUNG</a:t>
            </a:r>
          </a:p>
          <a:p>
            <a:pPr>
              <a:spcAft>
                <a:spcPts val="600"/>
              </a:spcAft>
              <a:defRPr sz="1400" b="1">
                <a:solidFill>
                  <a:srgbClr val="002D66"/>
                </a:solidFill>
                <a:latin typeface="Arial"/>
              </a:defRPr>
            </a:pPr>
            <a:r>
              <a:t>Hunderte Amtswege in einer Plattform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Kompetent deckt alle Kernbereiche der Verwaltung ab:</a:t>
            </a:r>
            <a:br/>
            <a:br/>
            <a:r>
              <a:t>• Pass- &amp; Ausweiswesen (Passgesetz 1992)</a:t>
            </a:r>
            <a:br/>
            <a:r>
              <a:t>• Meldewesen &amp; Wohnsitz (Meldegesetz 1972)</a:t>
            </a:r>
            <a:br/>
            <a:r>
              <a:t>• Zuwanderung &amp; Aufenthalt (NAG &amp; AuslBG)</a:t>
            </a:r>
            <a:br/>
            <a:r>
              <a:t>• Steuern &amp; Finanzen (Lohnsteuer, L1, Familienbonus)</a:t>
            </a:r>
            <a:br/>
            <a:r>
              <a:t>• Familie &amp; Beihilfen (Familienbeihilfe, KBG)</a:t>
            </a:r>
            <a:br/>
            <a:r>
              <a:t>• Gesundheit &amp; Sozialversicherung (ÖGK, e-card)</a:t>
            </a:r>
            <a:br/>
            <a:r>
              <a:t>• Führerschein &amp; Kfz (FSG, Pickerl, Vignette)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01168"/>
            <a:ext cx="320040" cy="109728"/>
          </a:xfrm>
          <a:prstGeom prst="rect">
            <a:avLst/>
          </a:prstGeom>
          <a:solidFill>
            <a:srgbClr val="E1320F"/>
          </a:solidFill>
          <a:ln>
            <a:solidFill>
              <a:srgbClr val="E132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310896"/>
            <a:ext cx="320040" cy="10972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420624"/>
            <a:ext cx="320040" cy="109728"/>
          </a:xfrm>
          <a:prstGeom prst="rect">
            <a:avLst/>
          </a:prstGeom>
          <a:solidFill>
            <a:srgbClr val="E1320F"/>
          </a:solidFill>
          <a:ln>
            <a:solidFill>
              <a:srgbClr val="E132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46304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D66"/>
                </a:solidFill>
                <a:latin typeface="Arial"/>
              </a:defRPr>
            </a:pPr>
            <a:r>
              <a:t>Kompetent</a:t>
            </a:r>
            <a:r>
              <a:rPr sz="1400" b="0">
                <a:solidFill>
                  <a:srgbClr val="64748B"/>
                </a:solidFill>
              </a:rPr>
              <a:t>  ·  Digitaler Bürgerassistent 2030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4592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DIGITALE ASSISTENTEN: EVOLUTION BIS 2030 (ÖFFENTLICHER SEKTOR)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601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2D66"/>
                </a:solidFill>
                <a:latin typeface="Arial"/>
              </a:defRPr>
            </a:pPr>
            <a:r>
              <a:t>Innovation 3: 100% Inklusiv &amp; WCAG 2.2 AA Barrierefrei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Live Prototype: competent.shiv.ovh   |   Caseworker Portal: competent.shiv.ovh/portal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11680"/>
            <a:ext cx="3474720" cy="38404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148840"/>
            <a:ext cx="31089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B92B06"/>
                </a:solidFill>
                <a:latin typeface="Arial"/>
              </a:defRPr>
            </a:pPr>
            <a:r>
              <a:t>MEHRSPRACHIGKEIT</a:t>
            </a:r>
          </a:p>
          <a:p>
            <a:pPr>
              <a:spcAft>
                <a:spcPts val="600"/>
              </a:spcAft>
              <a:defRPr sz="1400" b="1">
                <a:solidFill>
                  <a:srgbClr val="002D66"/>
                </a:solidFill>
                <a:latin typeface="Arial"/>
              </a:defRPr>
            </a:pPr>
            <a:r>
              <a:t>8 Sprachen &amp; Echtes RTL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Deutsch, Englisch, Leichte Sprache, Arabisch (mit echter RTL-Layout-Spiegelung), Türkisch, Ukrainisch, Rumänisch und BKS.</a:t>
            </a:r>
            <a:br/>
            <a:br/>
            <a:r>
              <a:t>Deutsche Rechtsbegriffe bleiben in Klammern erhalten.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011680"/>
            <a:ext cx="3474720" cy="38404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2148840"/>
            <a:ext cx="31089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B92B06"/>
                </a:solidFill>
                <a:latin typeface="Arial"/>
              </a:defRPr>
            </a:pPr>
            <a:r>
              <a:t>VISUELLE ZUGÄNGLICHKEIT</a:t>
            </a:r>
          </a:p>
          <a:p>
            <a:pPr>
              <a:spcAft>
                <a:spcPts val="600"/>
              </a:spcAft>
              <a:defRPr sz="1400" b="1">
                <a:solidFill>
                  <a:srgbClr val="002D66"/>
                </a:solidFill>
                <a:latin typeface="Arial"/>
              </a:defRPr>
            </a:pPr>
            <a:r>
              <a:t>Kontrast &amp; Text-Zoom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Integrierter High-Contrast-Modus mit optimierten Kontrastwerten (mind. 4.5:1) und stufenloser Schriftgrößen-Skalierung (100% / 150% / 200%).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011680"/>
            <a:ext cx="3474720" cy="38404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148840"/>
            <a:ext cx="31089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B92B06"/>
                </a:solidFill>
                <a:latin typeface="Arial"/>
              </a:defRPr>
            </a:pPr>
            <a:r>
              <a:t>ASSISTIVE TECHNOLOGIEN</a:t>
            </a:r>
          </a:p>
          <a:p>
            <a:pPr>
              <a:spcAft>
                <a:spcPts val="600"/>
              </a:spcAft>
              <a:defRPr sz="1400" b="1">
                <a:solidFill>
                  <a:srgbClr val="002D66"/>
                </a:solidFill>
                <a:latin typeface="Arial"/>
              </a:defRPr>
            </a:pPr>
            <a:r>
              <a:t>Screenreader &amp; Tastatur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Vollständig tastaturbedienbar ohne Maus, Mindest-Touch-Flächen von 44x44px und Echtzeit-Sprachansagen neuer Nachrichten über ARIA Live Regions.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01168"/>
            <a:ext cx="320040" cy="109728"/>
          </a:xfrm>
          <a:prstGeom prst="rect">
            <a:avLst/>
          </a:prstGeom>
          <a:solidFill>
            <a:srgbClr val="E1320F"/>
          </a:solidFill>
          <a:ln>
            <a:solidFill>
              <a:srgbClr val="E132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310896"/>
            <a:ext cx="320040" cy="10972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420624"/>
            <a:ext cx="320040" cy="109728"/>
          </a:xfrm>
          <a:prstGeom prst="rect">
            <a:avLst/>
          </a:prstGeom>
          <a:solidFill>
            <a:srgbClr val="E1320F"/>
          </a:solidFill>
          <a:ln>
            <a:solidFill>
              <a:srgbClr val="E132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46304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D66"/>
                </a:solidFill>
                <a:latin typeface="Arial"/>
              </a:defRPr>
            </a:pPr>
            <a:r>
              <a:t>Kompetent</a:t>
            </a:r>
            <a:r>
              <a:rPr sz="1400" b="0">
                <a:solidFill>
                  <a:srgbClr val="64748B"/>
                </a:solidFill>
              </a:rPr>
              <a:t>  ·  Digitaler Bürgerassistent 2030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4592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DIGITALE ASSISTENTEN: EVOLUTION BIS 2030 (ÖFFENTLICHER SEKTOR)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601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2D66"/>
                </a:solidFill>
                <a:latin typeface="Arial"/>
              </a:defRPr>
            </a:pPr>
            <a:r>
              <a:t>Innovation 4: Civic Handover &amp; Das Mitarbeiter-Portal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Live Prototype: competent.shiv.ovh   |   Caseworker Portal: competent.shiv.ovh/portal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28800"/>
            <a:ext cx="5303520" cy="4114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2D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96596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B92B06"/>
                </a:solidFill>
                <a:latin typeface="Arial"/>
              </a:defRPr>
            </a:pPr>
            <a:r>
              <a:t>AUTOMATISIERTES BÜRGER-DOSSIER</a:t>
            </a:r>
          </a:p>
          <a:p>
            <a:pPr>
              <a:spcAft>
                <a:spcPts val="600"/>
              </a:spcAft>
              <a:defRPr sz="1400" b="1">
                <a:solidFill>
                  <a:srgbClr val="002D66"/>
                </a:solidFill>
                <a:latin typeface="Arial"/>
              </a:defRPr>
            </a:pPr>
            <a:r>
              <a:t>Kein Wiederholen der Geschichte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Klickt ein Bürger auf 'Mit einer Person sprechen', generiert die KI in Sekunden ein amtliches Dossier auf Deutsch:</a:t>
            </a:r>
            <a:br/>
            <a:br/>
            <a:r>
              <a:t>• Erhobene Bürgerfakten &amp; Situation</a:t>
            </a:r>
            <a:br/>
            <a:r>
              <a:t>• Berechnete Fristen &amp; Dringlichkeiten</a:t>
            </a:r>
            <a:br/>
            <a:r>
              <a:t>• Vorliegende und noch fehlende Unterlagen</a:t>
            </a:r>
            <a:br/>
            <a:br/>
            <a:r>
              <a:t>Ergebnis: 5–10 Minuten Zeitersparnis pro Fall für die Beamtin oder den Beamten.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828800"/>
            <a:ext cx="5303520" cy="4114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96596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B92B06"/>
                </a:solidFill>
                <a:latin typeface="Arial"/>
              </a:defRPr>
            </a:pPr>
            <a:r>
              <a:t>MITARBEITERPORTAL (/PORTAL)</a:t>
            </a:r>
          </a:p>
          <a:p>
            <a:pPr>
              <a:spcAft>
                <a:spcPts val="600"/>
              </a:spcAft>
              <a:defRPr sz="1400" b="1">
                <a:solidFill>
                  <a:srgbClr val="002D66"/>
                </a:solidFill>
                <a:latin typeface="Arial"/>
              </a:defRPr>
            </a:pPr>
            <a:r>
              <a:t>Live-Übernahme am Amtsschalter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Sachbearbeiter haben ein dediziertes Verwaltungsportal:</a:t>
            </a:r>
            <a:br/>
            <a:br/>
            <a:r>
              <a:t>• Priorisierte Eskalations-Warteschlange</a:t>
            </a:r>
            <a:br/>
            <a:r>
              <a:t>• Einsicht in Chatverlauf &amp; strukturiertes Dossier</a:t>
            </a:r>
            <a:br/>
            <a:r>
              <a:t>• 1-Klick-Live-Übernahme: Der Bürger sieht sofort 'Amtlicher Sachbearbeiter hat den Chat übernommen'</a:t>
            </a:r>
            <a:br/>
            <a:r>
              <a:t>• Nahtloser Übergang ohne Medienbruch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01168"/>
            <a:ext cx="320040" cy="109728"/>
          </a:xfrm>
          <a:prstGeom prst="rect">
            <a:avLst/>
          </a:prstGeom>
          <a:solidFill>
            <a:srgbClr val="E1320F"/>
          </a:solidFill>
          <a:ln>
            <a:solidFill>
              <a:srgbClr val="E132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310896"/>
            <a:ext cx="320040" cy="10972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420624"/>
            <a:ext cx="320040" cy="109728"/>
          </a:xfrm>
          <a:prstGeom prst="rect">
            <a:avLst/>
          </a:prstGeom>
          <a:solidFill>
            <a:srgbClr val="E1320F"/>
          </a:solidFill>
          <a:ln>
            <a:solidFill>
              <a:srgbClr val="E132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46304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D66"/>
                </a:solidFill>
                <a:latin typeface="Arial"/>
              </a:defRPr>
            </a:pPr>
            <a:r>
              <a:t>Kompetent</a:t>
            </a:r>
            <a:r>
              <a:rPr sz="1400" b="0">
                <a:solidFill>
                  <a:srgbClr val="64748B"/>
                </a:solidFill>
              </a:rPr>
              <a:t>  ·  Digitaler Bürgerassistent 2030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4592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DIGITALE ASSISTENTEN: EVOLUTION BIS 2030 (ÖFFENTLICHER SEKTOR)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601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2D66"/>
                </a:solidFill>
                <a:latin typeface="Arial"/>
              </a:defRPr>
            </a:pPr>
            <a:r>
              <a:t>Souveräne Technologie &amp; Ausfallsicherheit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Live Prototype: competent.shiv.ovh   |   Caseworker Portal: competent.shiv.ovh/portal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28800"/>
            <a:ext cx="2560320" cy="19202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96596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B92B06"/>
                </a:solidFill>
                <a:latin typeface="Arial"/>
              </a:defRPr>
            </a:pPr>
            <a:r>
              <a:t>152 TESTS</a:t>
            </a:r>
          </a:p>
          <a:p>
            <a:pPr>
              <a:spcAft>
                <a:spcPts val="600"/>
              </a:spcAft>
              <a:defRPr sz="1400" b="1">
                <a:solidFill>
                  <a:srgbClr val="002D66"/>
                </a:solidFill>
                <a:latin typeface="Arial"/>
              </a:defRPr>
            </a:pPr>
            <a:r>
              <a:t>100% Test-Abdeckung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Vollständige Pest Feature- und Unit-Testsuite für Logik, RAG, Formulare und Übersetzungen.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1828800"/>
            <a:ext cx="2560320" cy="19202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196596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B92B06"/>
                </a:solidFill>
                <a:latin typeface="Arial"/>
              </a:defRPr>
            </a:pPr>
            <a:r>
              <a:t>LIVEWIRE 3</a:t>
            </a:r>
          </a:p>
          <a:p>
            <a:pPr>
              <a:spcAft>
                <a:spcPts val="600"/>
              </a:spcAft>
              <a:defRPr sz="1400" b="1">
                <a:solidFill>
                  <a:srgbClr val="002D66"/>
                </a:solidFill>
                <a:latin typeface="Arial"/>
              </a:defRPr>
            </a:pPr>
            <a:r>
              <a:t>0.3s Reaktionszeit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Reaktive Benutzeroberfläche direkt in PHP ohne überladenes SPA-Framework.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828800"/>
            <a:ext cx="2560320" cy="19202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96596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B92B06"/>
                </a:solidFill>
                <a:latin typeface="Arial"/>
              </a:defRPr>
            </a:pPr>
            <a:r>
              <a:t>GROUNDED RAG</a:t>
            </a:r>
          </a:p>
          <a:p>
            <a:pPr>
              <a:spcAft>
                <a:spcPts val="600"/>
              </a:spcAft>
              <a:defRPr sz="1400" b="1">
                <a:solidFill>
                  <a:srgbClr val="002D66"/>
                </a:solidFill>
                <a:latin typeface="Arial"/>
              </a:defRPr>
            </a:pPr>
            <a:r>
              <a:t>Offizielle Fakten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Wissensbausteine basierend auf österreichischen Gesetzen und autorisierten Behördenquellen.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60" y="1828800"/>
            <a:ext cx="2560320" cy="19202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196596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B92B06"/>
                </a:solidFill>
                <a:latin typeface="Arial"/>
              </a:defRPr>
            </a:pPr>
            <a:r>
              <a:t>MULTI-MODEL</a:t>
            </a:r>
          </a:p>
          <a:p>
            <a:pPr>
              <a:spcAft>
                <a:spcPts val="600"/>
              </a:spcAft>
              <a:defRPr sz="1400" b="1">
                <a:solidFill>
                  <a:srgbClr val="002D66"/>
                </a:solidFill>
                <a:latin typeface="Arial"/>
              </a:defRPr>
            </a:pPr>
            <a:r>
              <a:t>Ausfallsicherheit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Automatischer Fallback auf alternative Modelle und Offline-Knowledge bei API-Ausfällen.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023360"/>
            <a:ext cx="11064240" cy="19202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16052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B92B06"/>
                </a:solidFill>
                <a:latin typeface="Arial"/>
              </a:defRPr>
            </a:pPr>
            <a:r>
              <a:t>TECHNOLOGIE-STACK</a:t>
            </a:r>
          </a:p>
          <a:p>
            <a:pPr>
              <a:spcAft>
                <a:spcPts val="600"/>
              </a:spcAft>
              <a:defRPr sz="1400" b="1">
                <a:solidFill>
                  <a:srgbClr val="002D66"/>
                </a:solidFill>
                <a:latin typeface="Arial"/>
              </a:defRPr>
            </a:pPr>
            <a:r>
              <a:t>Modern, Sicher und Open Source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PHP 8.4 · Laravel 12 · Livewire 3 · Tailwind CSS mit amtlichen Kompetent CI-Tokens (kp-flag, kp-navy, kp-verified) · Pint Code Formatter · Grounded RAG mit KnowledgeNugget &amp; AdministrativeForm.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01168"/>
            <a:ext cx="320040" cy="109728"/>
          </a:xfrm>
          <a:prstGeom prst="rect">
            <a:avLst/>
          </a:prstGeom>
          <a:solidFill>
            <a:srgbClr val="E1320F"/>
          </a:solidFill>
          <a:ln>
            <a:solidFill>
              <a:srgbClr val="E132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310896"/>
            <a:ext cx="320040" cy="10972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420624"/>
            <a:ext cx="320040" cy="109728"/>
          </a:xfrm>
          <a:prstGeom prst="rect">
            <a:avLst/>
          </a:prstGeom>
          <a:solidFill>
            <a:srgbClr val="E1320F"/>
          </a:solidFill>
          <a:ln>
            <a:solidFill>
              <a:srgbClr val="E132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46304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D66"/>
                </a:solidFill>
                <a:latin typeface="Arial"/>
              </a:defRPr>
            </a:pPr>
            <a:r>
              <a:t>Kompetent</a:t>
            </a:r>
            <a:r>
              <a:rPr sz="1400" b="0">
                <a:solidFill>
                  <a:srgbClr val="64748B"/>
                </a:solidFill>
              </a:rPr>
              <a:t>  ·  Digitaler Bürgerassistent 2030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4592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DIGITALE ASSISTENTEN: EVOLUTION BIS 2030 (ÖFFENTLICHER SEKTOR)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601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2D66"/>
                </a:solidFill>
                <a:latin typeface="Arial"/>
              </a:defRPr>
            </a:pPr>
            <a:r>
              <a:t>Der Mehrwert für Österreich bis 2030 (ROI)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Live Prototype: competent.shiv.ovh   |   Caseworker Portal: competent.shiv.ovh/portal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11680"/>
            <a:ext cx="3474720" cy="3840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2D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148840"/>
            <a:ext cx="31089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B92B06"/>
                </a:solidFill>
                <a:latin typeface="Arial"/>
              </a:defRPr>
            </a:pPr>
            <a:r>
              <a:t>75% ENTLASTUNG</a:t>
            </a:r>
          </a:p>
          <a:p>
            <a:pPr>
              <a:spcAft>
                <a:spcPts val="600"/>
              </a:spcAft>
              <a:defRPr sz="1400" b="1">
                <a:solidFill>
                  <a:srgbClr val="002D66"/>
                </a:solidFill>
                <a:latin typeface="Arial"/>
              </a:defRPr>
            </a:pPr>
            <a:r>
              <a:t>Bürgerschalter entlasten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Routineanfragen zu Reisepässen, Meldezetteln und Steuerausgleichen werden 24/7 sofort und fallabschließend geklärt.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011680"/>
            <a:ext cx="3474720" cy="3840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2D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2148840"/>
            <a:ext cx="31089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B92B06"/>
                </a:solidFill>
                <a:latin typeface="Arial"/>
              </a:defRPr>
            </a:pPr>
            <a:r>
              <a:t>5–10 MIN ZEITGEWINN</a:t>
            </a:r>
          </a:p>
          <a:p>
            <a:pPr>
              <a:spcAft>
                <a:spcPts val="600"/>
              </a:spcAft>
              <a:defRPr sz="1400" b="1">
                <a:solidFill>
                  <a:srgbClr val="002D66"/>
                </a:solidFill>
                <a:latin typeface="Arial"/>
              </a:defRPr>
            </a:pPr>
            <a:r>
              <a:t>Schnellere Fallbearbeitung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Dank automatisch generierter Sachbearbeiter-Dossiers müssen Beamte Bürgerfakten nicht mehr manuell abfragen.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011680"/>
            <a:ext cx="3474720" cy="3840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2D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148840"/>
            <a:ext cx="31089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B92B06"/>
                </a:solidFill>
                <a:latin typeface="Arial"/>
              </a:defRPr>
            </a:pPr>
            <a:r>
              <a:t>100% VERLÄSSLICHKEIT</a:t>
            </a:r>
          </a:p>
          <a:p>
            <a:pPr>
              <a:spcAft>
                <a:spcPts val="600"/>
              </a:spcAft>
              <a:defRPr sz="1400" b="1">
                <a:solidFill>
                  <a:srgbClr val="002D66"/>
                </a:solidFill>
                <a:latin typeface="Arial"/>
              </a:defRPr>
            </a:pPr>
            <a:r>
              <a:t>Rechtssicherheit &amp; Vertrauen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Reine Quellenangaben aus dem öffentlichen Sektor (.gv.at) schaffen höchstes Vertrauen bei Bevölkerung und Verwaltung.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01168"/>
            <a:ext cx="320040" cy="109728"/>
          </a:xfrm>
          <a:prstGeom prst="rect">
            <a:avLst/>
          </a:prstGeom>
          <a:solidFill>
            <a:srgbClr val="E1320F"/>
          </a:solidFill>
          <a:ln>
            <a:solidFill>
              <a:srgbClr val="E132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310896"/>
            <a:ext cx="320040" cy="10972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420624"/>
            <a:ext cx="320040" cy="109728"/>
          </a:xfrm>
          <a:prstGeom prst="rect">
            <a:avLst/>
          </a:prstGeom>
          <a:solidFill>
            <a:srgbClr val="E1320F"/>
          </a:solidFill>
          <a:ln>
            <a:solidFill>
              <a:srgbClr val="E132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46304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D66"/>
                </a:solidFill>
                <a:latin typeface="Arial"/>
              </a:defRPr>
            </a:pPr>
            <a:r>
              <a:t>Kompetent</a:t>
            </a:r>
            <a:r>
              <a:rPr sz="1400" b="0">
                <a:solidFill>
                  <a:srgbClr val="64748B"/>
                </a:solidFill>
              </a:rPr>
              <a:t>  ·  Digitaler Bürgerassistent 2030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4592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DIGITALE ASSISTENTEN: EVOLUTION BIS 2030 (ÖFFENTLICHER SEKTOR)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601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2D66"/>
                </a:solidFill>
                <a:latin typeface="Arial"/>
              </a:defRPr>
            </a:pPr>
            <a:r>
              <a:t>Erleben Sie Kompetent 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Live Prototype: competent.shiv.ovh   |   Caseworker Portal: competent.shiv.ovh/portal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0" y="2011680"/>
            <a:ext cx="8138160" cy="3840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2D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4560" y="2148840"/>
            <a:ext cx="7772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B92B06"/>
                </a:solidFill>
                <a:latin typeface="Arial"/>
              </a:defRPr>
            </a:pPr>
            <a:r>
              <a:t>LIVE DEMONSTRATION</a:t>
            </a:r>
          </a:p>
          <a:p>
            <a:pPr>
              <a:spcAft>
                <a:spcPts val="600"/>
              </a:spcAft>
              <a:defRPr sz="1400" b="1">
                <a:solidFill>
                  <a:srgbClr val="002D66"/>
                </a:solidFill>
                <a:latin typeface="Arial"/>
              </a:defRPr>
            </a:pPr>
            <a:r>
              <a:t>Testen Sie den Prototyp jetzt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Wir laden die Jury herzlich ein, das System direkt im Browser zu testen:</a:t>
            </a:r>
            <a:br/>
            <a:br/>
            <a:r>
              <a:t>• Bürger-Assistent: https://competent.shiv.ovh</a:t>
            </a:r>
            <a:br/>
            <a:r>
              <a:t>• Beamten-Portal: https://competent.shiv.ovh/portal</a:t>
            </a:r>
            <a:br/>
            <a:r>
              <a:t>• GitHub Repository: https://github.com/goigarg/competent</a:t>
            </a:r>
            <a:br/>
            <a:br/>
            <a:r>
              <a:t>Vielen Dank für Ihre Aufmerksamkeit! Wir freuen uns auf Ihre Fragen.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